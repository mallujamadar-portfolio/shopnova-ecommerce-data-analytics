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66" r:id="rId4"/>
    <p:sldId id="263" r:id="rId5"/>
    <p:sldId id="264" r:id="rId6"/>
    <p:sldId id="278" r:id="rId7"/>
    <p:sldId id="268" r:id="rId8"/>
    <p:sldId id="276" r:id="rId9"/>
    <p:sldId id="277" r:id="rId10"/>
    <p:sldId id="274" r:id="rId11"/>
    <p:sldId id="275" r:id="rId12"/>
    <p:sldId id="270" r:id="rId13"/>
    <p:sldId id="261" r:id="rId14"/>
    <p:sldId id="26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3A809F-EC60-49F5-B072-E2E4697DAC85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E0AFD0-2F81-49E7-AADE-B3E7A54542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7446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4C62A-726B-4759-DB13-D15CD28E26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7386B2-6C96-74C0-CCE0-15C2F103D7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5A8A28-39EF-E591-F92E-5C9C107DF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4A3FF-1493-433B-9758-35D84761D802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8920E2-5C26-7D70-8B15-A0519561A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ED5F42-4193-0A79-D257-B73F8EEC8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28547-77E4-4086-85F9-04B2236725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911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B3557-F3A7-2A25-30D2-A9D21E682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0B22A-728A-C869-7481-FD462DFBE0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877C9-D515-6DD9-BC98-A45B10065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4A3FF-1493-433B-9758-35D84761D802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13F47-183D-5D77-D409-FA7E8142B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ACE617-D2BC-B0BC-D0CF-5D4261D21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28547-77E4-4086-85F9-04B2236725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8052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CAE4D-15F1-7FB2-97F3-1966AE8FB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B0D538-CF21-E7BB-2429-511B937531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E0F8B-609F-14E3-75B7-0A66BDF75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4A3FF-1493-433B-9758-35D84761D802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9A1826-8808-25A8-BF31-BC6839BFD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5EFE91-F9DA-A558-EDC7-EFE78F957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28547-77E4-4086-85F9-04B2236725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0499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7A0C7-68A1-631F-1FDF-5A7485231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E00D95-9EF1-3042-97D9-2A42C822A2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DC29DF-EC0D-CDB8-848D-92F1402F33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F1C73B-5D13-E007-9AD7-87E25AFEA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4A3FF-1493-433B-9758-35D84761D802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ED0A24-0781-A9F3-B667-3D3CCB5DC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A76955-DBE0-D5B5-9B94-2A54C828C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28547-77E4-4086-85F9-04B2236725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3141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CA3CF-C545-E75F-D292-675B615A3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922DF-0AAE-B040-080F-E475C099E8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0E01C0-AF2B-A6B8-7D7E-D2A3D17ECD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1D57F0-03DE-DCA8-37FD-E8533F7E2D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DF5101-3960-3C91-F47E-ACEC2F2680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572946-7F1F-665C-EAC0-E9C893C29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4A3FF-1493-433B-9758-35D84761D802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C77F0C-38CB-7AFE-6C69-FB27E8310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ADD08E-484A-660B-222C-DEDBD35C4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28547-77E4-4086-85F9-04B2236725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6589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DDFCC-2241-5D6B-47F7-9753DBF88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6E6000-7A9C-4DCE-8C26-A216EEEE7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4A3FF-1493-433B-9758-35D84761D802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4ABF69-FA68-3208-254F-C8C8DC1DF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4111E6-183B-ED2B-4D8D-0ECF24022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28547-77E4-4086-85F9-04B2236725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053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E13D2A-D0A8-7136-CC27-47918F3F7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4A3FF-1493-433B-9758-35D84761D802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009993-B6DC-C4FD-D3E4-0AEB470DB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1389E4-807B-FDC8-96E4-8AB23B4C1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28547-77E4-4086-85F9-04B2236725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1278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9D5E6-3A5B-CC2B-15EC-5ED042F91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9A486-C5A4-E016-D76F-7E2F13FF3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FEE09A-8814-5F41-6287-6A891463DD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DA4244-AB1F-3C7E-CF8F-327E5729C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4A3FF-1493-433B-9758-35D84761D802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7EE5A1-0195-DADF-302A-FEFD46DD3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AFEA8C-F7B5-7465-5BFB-A4DC93137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28547-77E4-4086-85F9-04B2236725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0874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FEA99-A200-8188-D05C-3A5063C2D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09E019-661D-C3BA-B696-01C71001EB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425FAD-433B-3C9B-9474-40567F0648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60AD24-B5A8-878F-E74D-F35778D0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4A3FF-1493-433B-9758-35D84761D802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C7FE4B-54D4-E8CB-D563-FB9FEE63E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F8098-42E6-7573-60A8-8ACDA7BEF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28547-77E4-4086-85F9-04B2236725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5328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706CE-6F47-F162-A694-D6993926A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72ED22-7D44-3B89-114C-EF8B84AF69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388C7A-FAB3-6EE1-5C8A-1DC0EC495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4A3FF-1493-433B-9758-35D84761D802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D17709-C34C-6020-23CD-D0C4BB21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0FAE55-B902-B862-54F0-3149A9E7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28547-77E4-4086-85F9-04B2236725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9498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10F77A-695B-01BB-81FE-841C4FF1D5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467D80-9869-5F1B-CCF5-F865903503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072FF-0E4A-D3D0-3309-12F78AB0A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4A3FF-1493-433B-9758-35D84761D802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D94798-51FD-6B3D-39A1-BB06DFA3E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07A448-7FCE-7126-5F52-3E3C55076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28547-77E4-4086-85F9-04B2236725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9045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67B60D-344B-6A57-7A70-56CD5F94D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6B1E5-F3EB-8BB0-29A9-5EC9626863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51417D-AA90-C7D7-EF2E-DFE9F93A86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64A3FF-1493-433B-9758-35D84761D802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99853E-C834-5F7C-2924-06EE9C77D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6E7A6D-FF9B-8C03-824D-7067AF7046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E28547-77E4-4086-85F9-04B2236725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5854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FE512-C53F-7B37-E714-5D2363D5E4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FC162E-E94E-4657-D9FA-0F3F80C508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 descr="A shopping cart with boxes&#10;&#10;AI-generated content may be incorrect.">
            <a:extLst>
              <a:ext uri="{FF2B5EF4-FFF2-40B4-BE49-F238E27FC236}">
                <a16:creationId xmlns:a16="http://schemas.microsoft.com/office/drawing/2014/main" id="{A6012265-A0A3-A3FF-AAC5-9129FD1DD8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AF7A29C-78D2-6618-FB2B-9C359B2B1752}"/>
              </a:ext>
            </a:extLst>
          </p:cNvPr>
          <p:cNvSpPr txBox="1"/>
          <p:nvPr/>
        </p:nvSpPr>
        <p:spPr>
          <a:xfrm>
            <a:off x="855405" y="1278563"/>
            <a:ext cx="833284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</a:rPr>
              <a:t>SALES &amp; CUSTOMER MARKETING </a:t>
            </a:r>
            <a:r>
              <a:rPr lang="en-IN" sz="4800" b="1" dirty="0">
                <a:solidFill>
                  <a:srgbClr val="FFC000"/>
                </a:solidFill>
              </a:rPr>
              <a:t>ANALYTICS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B1BCE7-B50F-B11F-07D2-7A6FDDBD01ED}"/>
              </a:ext>
            </a:extLst>
          </p:cNvPr>
          <p:cNvSpPr txBox="1"/>
          <p:nvPr/>
        </p:nvSpPr>
        <p:spPr>
          <a:xfrm>
            <a:off x="789037" y="2932743"/>
            <a:ext cx="84655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Data-Driven Insights for Better Business Decisions</a:t>
            </a:r>
            <a:endParaRPr lang="en-IN" sz="2400" b="1" dirty="0">
              <a:solidFill>
                <a:schemeClr val="bg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50DB93D-875F-805F-146E-1B48F4FF6227}"/>
              </a:ext>
            </a:extLst>
          </p:cNvPr>
          <p:cNvCxnSpPr>
            <a:cxnSpLocks/>
          </p:cNvCxnSpPr>
          <p:nvPr/>
        </p:nvCxnSpPr>
        <p:spPr>
          <a:xfrm>
            <a:off x="988140" y="3906672"/>
            <a:ext cx="2448234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0DB3AF6-FC68-6DBA-4B96-CC620965F1D3}"/>
              </a:ext>
            </a:extLst>
          </p:cNvPr>
          <p:cNvSpPr txBox="1"/>
          <p:nvPr/>
        </p:nvSpPr>
        <p:spPr>
          <a:xfrm>
            <a:off x="1164744" y="4702274"/>
            <a:ext cx="38570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Projects  :</a:t>
            </a:r>
            <a:r>
              <a:rPr lang="en-US" dirty="0">
                <a:solidFill>
                  <a:schemeClr val="bg1"/>
                </a:solidFill>
              </a:rPr>
              <a:t> Sales Dashboard &amp; Customer/Marketing Dashboard</a:t>
            </a:r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  </a:t>
            </a:r>
          </a:p>
          <a:p>
            <a:r>
              <a:rPr lang="en-IN" dirty="0">
                <a:solidFill>
                  <a:schemeClr val="bg1"/>
                </a:solidFill>
              </a:rPr>
              <a:t>Presented by  : Mallikarjun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</a:rPr>
              <a:t>Date  :</a:t>
            </a:r>
            <a:r>
              <a:rPr lang="en-IN" dirty="0">
                <a:solidFill>
                  <a:schemeClr val="bg1"/>
                </a:solidFill>
              </a:rPr>
              <a:t> August 2026  </a:t>
            </a:r>
          </a:p>
        </p:txBody>
      </p:sp>
    </p:spTree>
    <p:extLst>
      <p:ext uri="{BB962C8B-B14F-4D97-AF65-F5344CB8AC3E}">
        <p14:creationId xmlns:p14="http://schemas.microsoft.com/office/powerpoint/2010/main" val="1225702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list of text with colorful icons&#10;&#10;AI-generated content may be incorrect.">
            <a:extLst>
              <a:ext uri="{FF2B5EF4-FFF2-40B4-BE49-F238E27FC236}">
                <a16:creationId xmlns:a16="http://schemas.microsoft.com/office/drawing/2014/main" id="{1176C6F4-C485-786C-5B79-D8FC19408F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8" y="0"/>
            <a:ext cx="12185522" cy="685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BD10A80-098D-05E8-6A93-BDECF66B4A93}"/>
              </a:ext>
            </a:extLst>
          </p:cNvPr>
          <p:cNvSpPr txBox="1"/>
          <p:nvPr/>
        </p:nvSpPr>
        <p:spPr>
          <a:xfrm>
            <a:off x="737419" y="1887795"/>
            <a:ext cx="35396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tx2"/>
                </a:solidFill>
              </a:rPr>
              <a:t>AGENDA</a:t>
            </a:r>
          </a:p>
          <a:p>
            <a:endParaRPr lang="en-IN" sz="4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280A8F-846B-84D1-43B4-E9C0B523DF30}"/>
              </a:ext>
            </a:extLst>
          </p:cNvPr>
          <p:cNvSpPr txBox="1"/>
          <p:nvPr/>
        </p:nvSpPr>
        <p:spPr>
          <a:xfrm>
            <a:off x="2993924" y="265470"/>
            <a:ext cx="4778477" cy="5765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300000"/>
              </a:lnSpc>
            </a:pPr>
            <a:r>
              <a:rPr lang="en-US" b="1" dirty="0"/>
              <a:t>01 — Project Overview</a:t>
            </a:r>
            <a:br>
              <a:rPr lang="en-US" b="1" dirty="0"/>
            </a:br>
            <a:r>
              <a:rPr lang="en-US" b="1" dirty="0"/>
              <a:t>02 — Objectives</a:t>
            </a:r>
            <a:br>
              <a:rPr lang="en-US" b="1" dirty="0"/>
            </a:br>
            <a:r>
              <a:rPr lang="en-US" b="1" dirty="0"/>
              <a:t>03 — Data &amp; Methodology</a:t>
            </a:r>
            <a:br>
              <a:rPr lang="en-US" b="1" dirty="0"/>
            </a:br>
            <a:r>
              <a:rPr lang="en-US" b="1" dirty="0"/>
              <a:t>04 — Dashboard Overview</a:t>
            </a:r>
            <a:br>
              <a:rPr lang="en-US" b="1" dirty="0"/>
            </a:br>
            <a:r>
              <a:rPr lang="en-US" b="1" dirty="0"/>
              <a:t>05 — Key Insights</a:t>
            </a:r>
            <a:br>
              <a:rPr lang="en-US" b="1" dirty="0"/>
            </a:br>
            <a:r>
              <a:rPr lang="en-US" b="1" dirty="0"/>
              <a:t>06 — Recommendations</a:t>
            </a:r>
            <a:br>
              <a:rPr lang="en-US" b="1" dirty="0"/>
            </a:br>
            <a:r>
              <a:rPr lang="en-US" b="1" dirty="0"/>
              <a:t>07 — Conclusion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32ADFD1-FDB8-A266-B3F8-95E57A91D1D1}"/>
              </a:ext>
            </a:extLst>
          </p:cNvPr>
          <p:cNvCxnSpPr>
            <a:cxnSpLocks/>
          </p:cNvCxnSpPr>
          <p:nvPr/>
        </p:nvCxnSpPr>
        <p:spPr>
          <a:xfrm>
            <a:off x="501446" y="2043924"/>
            <a:ext cx="0" cy="3427728"/>
          </a:xfrm>
          <a:prstGeom prst="line">
            <a:avLst/>
          </a:prstGeom>
          <a:ln w="539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1110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4AB9D2-410C-D7F0-BC5D-F4BB6A4CFD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4012262-6BA0-33AA-5F11-65751326D6D6}"/>
              </a:ext>
            </a:extLst>
          </p:cNvPr>
          <p:cNvSpPr txBox="1"/>
          <p:nvPr/>
        </p:nvSpPr>
        <p:spPr>
          <a:xfrm>
            <a:off x="1820372" y="462342"/>
            <a:ext cx="44476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>
                <a:solidFill>
                  <a:schemeClr val="tx2"/>
                </a:solidFill>
              </a:rPr>
              <a:t>PROJECT OVERVIEW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A55295-4895-EC6D-E626-D713E5E20442}"/>
              </a:ext>
            </a:extLst>
          </p:cNvPr>
          <p:cNvSpPr txBox="1"/>
          <p:nvPr/>
        </p:nvSpPr>
        <p:spPr>
          <a:xfrm>
            <a:off x="2439180" y="1755680"/>
            <a:ext cx="40796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project analyzes </a:t>
            </a:r>
            <a:r>
              <a:rPr lang="en-US" b="1" dirty="0"/>
              <a:t>sales, customer, and marketing performance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E8085B-14E9-0AD4-505A-699BA7395CEF}"/>
              </a:ext>
            </a:extLst>
          </p:cNvPr>
          <p:cNvSpPr txBox="1"/>
          <p:nvPr/>
        </p:nvSpPr>
        <p:spPr>
          <a:xfrm>
            <a:off x="2439179" y="2495020"/>
            <a:ext cx="38288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dashboards provide a clear view of </a:t>
            </a:r>
            <a:r>
              <a:rPr lang="en-US" b="1" dirty="0"/>
              <a:t>revenue, customers, campaigns, and business performance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46FC57-22A8-C972-5746-336743298907}"/>
              </a:ext>
            </a:extLst>
          </p:cNvPr>
          <p:cNvSpPr txBox="1"/>
          <p:nvPr/>
        </p:nvSpPr>
        <p:spPr>
          <a:xfrm>
            <a:off x="2483034" y="3660171"/>
            <a:ext cx="36568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Interactive dashboards help users </a:t>
            </a:r>
            <a:r>
              <a:rPr lang="en-US" b="1" dirty="0"/>
              <a:t>monitor KPIs and identify trends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23A26D-91A7-8F4E-135D-502A78C96E23}"/>
              </a:ext>
            </a:extLst>
          </p:cNvPr>
          <p:cNvSpPr txBox="1"/>
          <p:nvPr/>
        </p:nvSpPr>
        <p:spPr>
          <a:xfrm>
            <a:off x="2483034" y="4548323"/>
            <a:ext cx="35691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analysis supports </a:t>
            </a:r>
            <a:r>
              <a:rPr lang="en-US" b="1" dirty="0"/>
              <a:t>data-driven business decisions</a:t>
            </a:r>
            <a:r>
              <a:rPr lang="en-US" dirty="0"/>
              <a:t>.</a:t>
            </a:r>
            <a:endParaRPr lang="en-IN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A4DE0C3-1216-F3DD-2735-BA802802D4CB}"/>
              </a:ext>
            </a:extLst>
          </p:cNvPr>
          <p:cNvCxnSpPr/>
          <p:nvPr/>
        </p:nvCxnSpPr>
        <p:spPr>
          <a:xfrm>
            <a:off x="2625213" y="2402011"/>
            <a:ext cx="342692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5314B3E-BACB-FD1D-427A-72344B531D26}"/>
              </a:ext>
            </a:extLst>
          </p:cNvPr>
          <p:cNvCxnSpPr/>
          <p:nvPr/>
        </p:nvCxnSpPr>
        <p:spPr>
          <a:xfrm>
            <a:off x="2625213" y="3465871"/>
            <a:ext cx="342692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16848DD-B9E2-7158-FE38-C45ED4145D1B}"/>
              </a:ext>
            </a:extLst>
          </p:cNvPr>
          <p:cNvCxnSpPr>
            <a:cxnSpLocks/>
          </p:cNvCxnSpPr>
          <p:nvPr/>
        </p:nvCxnSpPr>
        <p:spPr>
          <a:xfrm>
            <a:off x="2625213" y="4409768"/>
            <a:ext cx="330363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E0F80C8-CF6C-F5ED-2D13-CC8A5F4E4FC5}"/>
              </a:ext>
            </a:extLst>
          </p:cNvPr>
          <p:cNvCxnSpPr>
            <a:cxnSpLocks/>
          </p:cNvCxnSpPr>
          <p:nvPr/>
        </p:nvCxnSpPr>
        <p:spPr>
          <a:xfrm>
            <a:off x="2625213" y="5368413"/>
            <a:ext cx="330363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1C360CC-5584-A163-82E1-1E990B2168EF}"/>
              </a:ext>
            </a:extLst>
          </p:cNvPr>
          <p:cNvCxnSpPr/>
          <p:nvPr/>
        </p:nvCxnSpPr>
        <p:spPr>
          <a:xfrm>
            <a:off x="1932038" y="1256157"/>
            <a:ext cx="2654710" cy="0"/>
          </a:xfrm>
          <a:prstGeom prst="line">
            <a:avLst/>
          </a:prstGeom>
          <a:ln w="539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0931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white graphic with a dart in the center&#10;&#10;AI-generated content may be incorrect.">
            <a:extLst>
              <a:ext uri="{FF2B5EF4-FFF2-40B4-BE49-F238E27FC236}">
                <a16:creationId xmlns:a16="http://schemas.microsoft.com/office/drawing/2014/main" id="{D04F6CC5-4740-9F45-9B7E-9B0843F234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11A2A33-E695-B29A-675B-B16ED980D92E}"/>
              </a:ext>
            </a:extLst>
          </p:cNvPr>
          <p:cNvSpPr txBox="1"/>
          <p:nvPr/>
        </p:nvSpPr>
        <p:spPr>
          <a:xfrm>
            <a:off x="1169200" y="883605"/>
            <a:ext cx="27519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>
                <a:solidFill>
                  <a:schemeClr val="tx2"/>
                </a:solidFill>
              </a:rPr>
              <a:t>OBJECTIVES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52B52870-3AE1-B611-E7CE-8719D0C8D1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7187" y="-149076"/>
            <a:ext cx="6805068" cy="57541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b="1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Track overall sales and revenue performance. </a:t>
            </a:r>
          </a:p>
          <a:p>
            <a:pPr lvl="0" eaLnBrk="0" fontAlgn="base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Analyze customer segments and purchasing behavior. </a:t>
            </a:r>
          </a:p>
          <a:p>
            <a:pPr lvl="0" eaLnBrk="0" fontAlgn="base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Measure marketing spend and campaign performance. </a:t>
            </a:r>
          </a:p>
          <a:p>
            <a:pPr lvl="0" eaLnBrk="0" fontAlgn="base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Identify top-performing products, customers, and channels. </a:t>
            </a:r>
          </a:p>
          <a:p>
            <a:pPr lvl="0" eaLnBrk="0" fontAlgn="base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Provide actionable insights for better business decisions. </a:t>
            </a:r>
          </a:p>
          <a:p>
            <a:pPr marL="0" marR="0" lvl="0" indent="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48A95E7-4CF4-22DC-9FB6-271FE309B55C}"/>
              </a:ext>
            </a:extLst>
          </p:cNvPr>
          <p:cNvCxnSpPr>
            <a:cxnSpLocks/>
          </p:cNvCxnSpPr>
          <p:nvPr/>
        </p:nvCxnSpPr>
        <p:spPr>
          <a:xfrm>
            <a:off x="1266462" y="1713357"/>
            <a:ext cx="1815951" cy="0"/>
          </a:xfrm>
          <a:prstGeom prst="line">
            <a:avLst/>
          </a:prstGeom>
          <a:ln w="539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5161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E2ED1DE-080D-5AB1-5A5A-D8501BF46F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414" y="0"/>
            <a:ext cx="12185522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61FF998-9276-4ADF-B4D6-343895A0896D}"/>
              </a:ext>
            </a:extLst>
          </p:cNvPr>
          <p:cNvSpPr txBox="1"/>
          <p:nvPr/>
        </p:nvSpPr>
        <p:spPr>
          <a:xfrm>
            <a:off x="2050026" y="162232"/>
            <a:ext cx="51428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DATA &amp; METHODOLOGY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D2F1C8-4FAF-C0C9-76CA-66F6D4D3168A}"/>
              </a:ext>
            </a:extLst>
          </p:cNvPr>
          <p:cNvSpPr txBox="1"/>
          <p:nvPr/>
        </p:nvSpPr>
        <p:spPr>
          <a:xfrm>
            <a:off x="2050026" y="2684206"/>
            <a:ext cx="1961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DATA SOURCES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ABD66DB-28F4-78FC-E679-2B27448D4B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1929" y="2868872"/>
            <a:ext cx="2477730" cy="22626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Sales Data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Customer Data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Product Data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Marketing Data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Campaign Data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068D7C-AB7E-01A1-916A-9588C82F2918}"/>
              </a:ext>
            </a:extLst>
          </p:cNvPr>
          <p:cNvSpPr txBox="1"/>
          <p:nvPr/>
        </p:nvSpPr>
        <p:spPr>
          <a:xfrm>
            <a:off x="5291408" y="2684206"/>
            <a:ext cx="15338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TOOLS USED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12B442-9C1C-560E-642C-C25FF73B89D6}"/>
              </a:ext>
            </a:extLst>
          </p:cNvPr>
          <p:cNvSpPr txBox="1"/>
          <p:nvPr/>
        </p:nvSpPr>
        <p:spPr>
          <a:xfrm>
            <a:off x="5159704" y="2868872"/>
            <a:ext cx="1797287" cy="2642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1600" b="1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600" b="1" dirty="0">
                <a:latin typeface="Arial" panose="020B0604020202020204" pitchFamily="34" charset="0"/>
              </a:rPr>
              <a:t>Excel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600" b="1" dirty="0">
                <a:latin typeface="Arial" panose="020B0604020202020204" pitchFamily="34" charset="0"/>
              </a:rPr>
              <a:t>Power BI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600" b="1" dirty="0">
                <a:latin typeface="Arial" panose="020B0604020202020204" pitchFamily="34" charset="0"/>
              </a:rPr>
              <a:t>Power Query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b="1" dirty="0"/>
              <a:t>Tableau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b="1" dirty="0"/>
              <a:t>MySQL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b="1" dirty="0"/>
              <a:t>Python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0B2955-13CC-ED08-C82B-E49DB1ABDE6D}"/>
              </a:ext>
            </a:extLst>
          </p:cNvPr>
          <p:cNvSpPr txBox="1"/>
          <p:nvPr/>
        </p:nvSpPr>
        <p:spPr>
          <a:xfrm>
            <a:off x="8269667" y="2684206"/>
            <a:ext cx="1872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METHODOLOGY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107BCF-1BA3-B8D6-3086-9DDFBEE22A7A}"/>
              </a:ext>
            </a:extLst>
          </p:cNvPr>
          <p:cNvSpPr txBox="1"/>
          <p:nvPr/>
        </p:nvSpPr>
        <p:spPr>
          <a:xfrm>
            <a:off x="8178576" y="2868872"/>
            <a:ext cx="2455012" cy="3011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1600" b="1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600" b="1" dirty="0">
                <a:latin typeface="Arial" panose="020B0604020202020204" pitchFamily="34" charset="0"/>
              </a:rPr>
              <a:t>Data Cleaning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600" b="1" dirty="0">
                <a:latin typeface="Arial" panose="020B0604020202020204" pitchFamily="34" charset="0"/>
              </a:rPr>
              <a:t>Data Transformation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600" b="1" dirty="0">
                <a:latin typeface="Arial" panose="020B0604020202020204" pitchFamily="34" charset="0"/>
              </a:rPr>
              <a:t>KPI Calculation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600" b="1" dirty="0">
                <a:latin typeface="Arial" panose="020B0604020202020204" pitchFamily="34" charset="0"/>
              </a:rPr>
              <a:t>Data Visualization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600" b="1" dirty="0">
                <a:latin typeface="Arial" panose="020B0604020202020204" pitchFamily="34" charset="0"/>
              </a:rPr>
              <a:t>Dashboard Development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1600" b="1" dirty="0"/>
          </a:p>
        </p:txBody>
      </p:sp>
    </p:spTree>
    <p:extLst>
      <p:ext uri="{BB962C8B-B14F-4D97-AF65-F5344CB8AC3E}">
        <p14:creationId xmlns:p14="http://schemas.microsoft.com/office/powerpoint/2010/main" val="2541766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5DE56-1EFE-D738-F11D-F8142607E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94EDC7-A3A2-64E5-70EE-09E54B4D6E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24BD35E-91F4-7B17-D03C-24902027DD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150A5BB-97E8-F17C-69CA-1A9609C5F4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90" y="1150374"/>
            <a:ext cx="12070775" cy="57076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7ED299C-EDDA-AD08-5C8C-1477E1B4F8DF}"/>
              </a:ext>
            </a:extLst>
          </p:cNvPr>
          <p:cNvSpPr txBox="1"/>
          <p:nvPr/>
        </p:nvSpPr>
        <p:spPr>
          <a:xfrm>
            <a:off x="3854144" y="252022"/>
            <a:ext cx="411426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>
                <a:solidFill>
                  <a:schemeClr val="tx2"/>
                </a:solidFill>
              </a:rPr>
              <a:t>Excel Dashboard</a:t>
            </a:r>
          </a:p>
          <a:p>
            <a:r>
              <a:rPr lang="en-IN" sz="4000" dirty="0">
                <a:solidFill>
                  <a:schemeClr val="tx2"/>
                </a:solidFill>
              </a:rPr>
              <a:t>	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DD668C3-8433-4A1D-F85B-2431EC00572D}"/>
              </a:ext>
            </a:extLst>
          </p:cNvPr>
          <p:cNvCxnSpPr/>
          <p:nvPr/>
        </p:nvCxnSpPr>
        <p:spPr>
          <a:xfrm>
            <a:off x="4055806" y="958645"/>
            <a:ext cx="352486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91861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rectangular frame with blue and white border&#10;&#10;AI-generated content may be incorrect.">
            <a:extLst>
              <a:ext uri="{FF2B5EF4-FFF2-40B4-BE49-F238E27FC236}">
                <a16:creationId xmlns:a16="http://schemas.microsoft.com/office/drawing/2014/main" id="{0CBF47D6-F91E-F24A-3A9E-784BCFFE95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0C19632-2DAC-2EAD-BB75-A9AA262AFF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92" y="1222291"/>
            <a:ext cx="11993793" cy="563570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2EAE455-8EB9-3C44-4657-9B72D7144FE5}"/>
              </a:ext>
            </a:extLst>
          </p:cNvPr>
          <p:cNvSpPr txBox="1"/>
          <p:nvPr/>
        </p:nvSpPr>
        <p:spPr>
          <a:xfrm>
            <a:off x="3656356" y="396418"/>
            <a:ext cx="48728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>
                <a:solidFill>
                  <a:schemeClr val="tx2"/>
                </a:solidFill>
              </a:rPr>
              <a:t>Power BI Dashboard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6A15C9F-F57C-D3CB-6C62-FF50AEE721B0}"/>
              </a:ext>
            </a:extLst>
          </p:cNvPr>
          <p:cNvCxnSpPr/>
          <p:nvPr/>
        </p:nvCxnSpPr>
        <p:spPr>
          <a:xfrm>
            <a:off x="3656356" y="1104304"/>
            <a:ext cx="416028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0673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BC973-63AF-8DD4-46F5-6575FDFE6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1AA2BD-9D8F-9267-E8F2-ABB8E19BA5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454CC90-2763-C3A2-5AEF-15353836BA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7387340-270D-95DA-690C-21B7CF4DF9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89" y="781645"/>
            <a:ext cx="11990440" cy="59730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7A4702E-40A6-BC55-5B85-6D1D7954A3EC}"/>
              </a:ext>
            </a:extLst>
          </p:cNvPr>
          <p:cNvSpPr txBox="1"/>
          <p:nvPr/>
        </p:nvSpPr>
        <p:spPr>
          <a:xfrm>
            <a:off x="3598607" y="147502"/>
            <a:ext cx="46830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>
                <a:solidFill>
                  <a:schemeClr val="tx2"/>
                </a:solidFill>
              </a:rPr>
              <a:t>Tableau Dashboard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D7A0418-259A-A2FC-DBD7-0F4D6DF98CB1}"/>
              </a:ext>
            </a:extLst>
          </p:cNvPr>
          <p:cNvCxnSpPr/>
          <p:nvPr/>
        </p:nvCxnSpPr>
        <p:spPr>
          <a:xfrm>
            <a:off x="3864077" y="855388"/>
            <a:ext cx="398206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59598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6518D-880C-FE4C-6F68-17B9D506B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70E65B-5A8F-56E0-D849-7AA309300F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A5E52B9-9146-CB08-C93B-0A397AA854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AFFA38F-907E-F62F-B095-B0D09DD31C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1465" y="1059809"/>
            <a:ext cx="5307660" cy="298916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BDF6119-9479-6651-09F4-57A647F512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1357" y="1059809"/>
            <a:ext cx="5152101" cy="304078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D0F5E0A-A335-D10F-077F-5DF5BB8531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3831" y="4225164"/>
            <a:ext cx="4658375" cy="245664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A74E11C-0FBF-1911-11E6-7F1C6B2DFAE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9125" y="4225164"/>
            <a:ext cx="4862677" cy="245664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129800E-A1EB-1132-C5A5-3A19620CD1A6}"/>
              </a:ext>
            </a:extLst>
          </p:cNvPr>
          <p:cNvSpPr txBox="1"/>
          <p:nvPr/>
        </p:nvSpPr>
        <p:spPr>
          <a:xfrm>
            <a:off x="2505271" y="176193"/>
            <a:ext cx="31359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>
                <a:solidFill>
                  <a:schemeClr val="tx2"/>
                </a:solidFill>
              </a:rPr>
              <a:t>MySQL Work</a:t>
            </a:r>
          </a:p>
        </p:txBody>
      </p:sp>
    </p:spTree>
    <p:extLst>
      <p:ext uri="{BB962C8B-B14F-4D97-AF65-F5344CB8AC3E}">
        <p14:creationId xmlns:p14="http://schemas.microsoft.com/office/powerpoint/2010/main" val="18329763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2B59C8-E656-E19D-0B0A-844A718442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3BAD28A-0617-EEA8-9298-787B1C5F00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7AB894-1854-C8E4-7F78-E4BE42C114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333" y="995507"/>
            <a:ext cx="11907848" cy="57592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EC8FB09-D69B-85DB-C32B-9D15F1BE01D2}"/>
              </a:ext>
            </a:extLst>
          </p:cNvPr>
          <p:cNvSpPr txBox="1"/>
          <p:nvPr/>
        </p:nvSpPr>
        <p:spPr>
          <a:xfrm>
            <a:off x="3082413" y="184373"/>
            <a:ext cx="317099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>
                <a:solidFill>
                  <a:schemeClr val="tx2"/>
                </a:solidFill>
              </a:rPr>
              <a:t>Python work </a:t>
            </a:r>
          </a:p>
        </p:txBody>
      </p:sp>
    </p:spTree>
    <p:extLst>
      <p:ext uri="{BB962C8B-B14F-4D97-AF65-F5344CB8AC3E}">
        <p14:creationId xmlns:p14="http://schemas.microsoft.com/office/powerpoint/2010/main" val="17374103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E27868-CD24-A983-0852-01B9E6993D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0216641-33E0-F587-7E26-BDC4CA3A51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44" y="1268361"/>
            <a:ext cx="12026529" cy="54863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27EFCD9-726D-F65E-5141-8ACEB8FDC025}"/>
              </a:ext>
            </a:extLst>
          </p:cNvPr>
          <p:cNvSpPr txBox="1"/>
          <p:nvPr/>
        </p:nvSpPr>
        <p:spPr>
          <a:xfrm>
            <a:off x="3029198" y="221244"/>
            <a:ext cx="30668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>
                <a:solidFill>
                  <a:schemeClr val="tx2"/>
                </a:solidFill>
              </a:rPr>
              <a:t>Python work</a:t>
            </a:r>
          </a:p>
        </p:txBody>
      </p:sp>
    </p:spTree>
    <p:extLst>
      <p:ext uri="{BB962C8B-B14F-4D97-AF65-F5344CB8AC3E}">
        <p14:creationId xmlns:p14="http://schemas.microsoft.com/office/powerpoint/2010/main" val="12602453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59CCF8-56EE-A28B-6F46-3612DBA3E4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BA26F34-9396-4346-CCAA-00AE6E0E7C4B}"/>
              </a:ext>
            </a:extLst>
          </p:cNvPr>
          <p:cNvSpPr txBox="1"/>
          <p:nvPr/>
        </p:nvSpPr>
        <p:spPr>
          <a:xfrm>
            <a:off x="4572000" y="1165123"/>
            <a:ext cx="60320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Strong Revenue:</a:t>
            </a:r>
            <a:r>
              <a:rPr lang="en-US" dirty="0"/>
              <a:t> Net Revenue reached ₹140.37M with 7.56K orders and an AOV of ₹18.56K.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59672E-E264-7492-2B16-53D7606DB8E8}"/>
              </a:ext>
            </a:extLst>
          </p:cNvPr>
          <p:cNvSpPr txBox="1"/>
          <p:nvPr/>
        </p:nvSpPr>
        <p:spPr>
          <a:xfrm>
            <a:off x="4572000" y="2182761"/>
            <a:ext cx="57223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Electronics Leads Sales:</a:t>
            </a:r>
            <a:r>
              <a:rPr lang="en-US" dirty="0"/>
              <a:t> Electronics generated ₹108M, making it the top-performing category.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A5784F-ED06-9CD3-3829-04D76B19627D}"/>
              </a:ext>
            </a:extLst>
          </p:cNvPr>
          <p:cNvSpPr txBox="1"/>
          <p:nvPr/>
        </p:nvSpPr>
        <p:spPr>
          <a:xfrm>
            <a:off x="4572000" y="3200399"/>
            <a:ext cx="58256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Strong Customer Purchase Rate:</a:t>
            </a:r>
            <a:r>
              <a:rPr lang="en-US" dirty="0"/>
              <a:t> The purchase rate is 97.38%, with 322 new customers.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924CBC-7018-CD3F-7F7D-7634D252503A}"/>
              </a:ext>
            </a:extLst>
          </p:cNvPr>
          <p:cNvSpPr txBox="1"/>
          <p:nvPr/>
        </p:nvSpPr>
        <p:spPr>
          <a:xfrm>
            <a:off x="4542504" y="4173793"/>
            <a:ext cx="63270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High Marketing Performance:</a:t>
            </a:r>
            <a:r>
              <a:rPr lang="en-US" dirty="0"/>
              <a:t> Email Campaign achieved the highest ROAS at 7.5K%, followed by Google Search at 5.8K%.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D9F7B7-B333-1B6B-0EB0-33EC998F1251}"/>
              </a:ext>
            </a:extLst>
          </p:cNvPr>
          <p:cNvSpPr txBox="1"/>
          <p:nvPr/>
        </p:nvSpPr>
        <p:spPr>
          <a:xfrm>
            <a:off x="4542504" y="5147187"/>
            <a:ext cx="63270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Customer Value:</a:t>
            </a:r>
            <a:r>
              <a:rPr lang="en-US" dirty="0"/>
              <a:t> CLV peaked at ₹159K in June, while Regular customers were the largest segment at 330 (41.25%).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442D01-BAE3-E33F-71D1-2149BFFA69C7}"/>
              </a:ext>
            </a:extLst>
          </p:cNvPr>
          <p:cNvSpPr txBox="1"/>
          <p:nvPr/>
        </p:nvSpPr>
        <p:spPr>
          <a:xfrm>
            <a:off x="3089317" y="178263"/>
            <a:ext cx="29063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KEY  INSIGHTS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57CD289-3B9A-C0F3-DF01-5DD1563AC9B6}"/>
              </a:ext>
            </a:extLst>
          </p:cNvPr>
          <p:cNvCxnSpPr/>
          <p:nvPr/>
        </p:nvCxnSpPr>
        <p:spPr>
          <a:xfrm>
            <a:off x="3200400" y="763038"/>
            <a:ext cx="250722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00673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white board&#10;&#10;AI-generated content may be incorrect.">
            <a:extLst>
              <a:ext uri="{FF2B5EF4-FFF2-40B4-BE49-F238E27FC236}">
                <a16:creationId xmlns:a16="http://schemas.microsoft.com/office/drawing/2014/main" id="{8FC7D29A-2DB6-FF37-C0EF-97F7194A39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8" y="0"/>
            <a:ext cx="12185522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1D7902-B193-7F30-FF25-80A12CDA8479}"/>
              </a:ext>
            </a:extLst>
          </p:cNvPr>
          <p:cNvSpPr txBox="1"/>
          <p:nvPr/>
        </p:nvSpPr>
        <p:spPr>
          <a:xfrm>
            <a:off x="2360037" y="0"/>
            <a:ext cx="46572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>
                <a:solidFill>
                  <a:schemeClr val="tx2"/>
                </a:solidFill>
              </a:rPr>
              <a:t>RECOMMENDATIONS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BACA6F-0DAE-3147-EED5-08EA228DBBDC}"/>
              </a:ext>
            </a:extLst>
          </p:cNvPr>
          <p:cNvSpPr txBox="1"/>
          <p:nvPr/>
        </p:nvSpPr>
        <p:spPr>
          <a:xfrm>
            <a:off x="3551403" y="943897"/>
            <a:ext cx="69317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Promote Electronics:</a:t>
            </a:r>
            <a:r>
              <a:rPr lang="en-US" dirty="0"/>
              <a:t> Focus on high-performing electronics products to maximize revenue growth.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2F9AC0-5DDB-E335-B0C6-2F8CEF832873}"/>
              </a:ext>
            </a:extLst>
          </p:cNvPr>
          <p:cNvSpPr txBox="1"/>
          <p:nvPr/>
        </p:nvSpPr>
        <p:spPr>
          <a:xfrm>
            <a:off x="3551402" y="1887794"/>
            <a:ext cx="67203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Invest in High-ROAS Channels:</a:t>
            </a:r>
            <a:r>
              <a:rPr lang="en-US" dirty="0"/>
              <a:t> Increase investment in Email Campaigns and Google Search and review low-performing channels.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FB2882-04A3-ECB1-2A50-AC1F40A8FAEE}"/>
              </a:ext>
            </a:extLst>
          </p:cNvPr>
          <p:cNvSpPr txBox="1"/>
          <p:nvPr/>
        </p:nvSpPr>
        <p:spPr>
          <a:xfrm>
            <a:off x="3551402" y="3108690"/>
            <a:ext cx="7254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Improve Customer Retention:</a:t>
            </a:r>
            <a:r>
              <a:rPr lang="en-US" dirty="0"/>
              <a:t> Convert the 322 new customers into repeat customers through loyalty offers and personalized campaigns.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D655CE-EEE4-DAEE-ED89-9F0020A8EA5D}"/>
              </a:ext>
            </a:extLst>
          </p:cNvPr>
          <p:cNvSpPr txBox="1"/>
          <p:nvPr/>
        </p:nvSpPr>
        <p:spPr>
          <a:xfrm>
            <a:off x="3551402" y="4221480"/>
            <a:ext cx="63988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Reduce Returns:</a:t>
            </a:r>
            <a:r>
              <a:rPr lang="en-US" dirty="0"/>
              <a:t> Analyze the 7.59% return rate and improve product quality, descriptions, and customer support.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81E19B-FAB9-9AF7-A081-B601821B7556}"/>
              </a:ext>
            </a:extLst>
          </p:cNvPr>
          <p:cNvSpPr txBox="1"/>
          <p:nvPr/>
        </p:nvSpPr>
        <p:spPr>
          <a:xfrm>
            <a:off x="3551402" y="5334270"/>
            <a:ext cx="7056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Increase Customer Value:</a:t>
            </a:r>
            <a:r>
              <a:rPr lang="en-US" dirty="0"/>
              <a:t> Use targeted offers and cross-selling strategies to increase CLV beyond ₹159K.</a:t>
            </a:r>
            <a:endParaRPr lang="en-IN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D568275-55F8-BA43-707F-1BFD58B08ED1}"/>
              </a:ext>
            </a:extLst>
          </p:cNvPr>
          <p:cNvCxnSpPr/>
          <p:nvPr/>
        </p:nvCxnSpPr>
        <p:spPr>
          <a:xfrm>
            <a:off x="2521974" y="646331"/>
            <a:ext cx="342162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11618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and boxes with check marks&#10;&#10;AI-generated content may be incorrect.">
            <a:extLst>
              <a:ext uri="{FF2B5EF4-FFF2-40B4-BE49-F238E27FC236}">
                <a16:creationId xmlns:a16="http://schemas.microsoft.com/office/drawing/2014/main" id="{93055DFD-60D0-89AA-6DA4-124C0035B5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F15E340-67F4-6481-EA6C-EE8B0153F0B5}"/>
              </a:ext>
            </a:extLst>
          </p:cNvPr>
          <p:cNvSpPr txBox="1"/>
          <p:nvPr/>
        </p:nvSpPr>
        <p:spPr>
          <a:xfrm>
            <a:off x="6282811" y="1238865"/>
            <a:ext cx="49849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The dashboards provide a clear view of sales, customer, and marketing performance.</a:t>
            </a:r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9A2877-66DC-4CBF-ABE7-837A6644C888}"/>
              </a:ext>
            </a:extLst>
          </p:cNvPr>
          <p:cNvSpPr txBox="1"/>
          <p:nvPr/>
        </p:nvSpPr>
        <p:spPr>
          <a:xfrm>
            <a:off x="6282811" y="2477730"/>
            <a:ext cx="48227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They help identify trends, opportunities, and performance gaps.</a:t>
            </a:r>
            <a:endParaRPr lang="en-IN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0ADCE1-856E-6E8E-7CBE-40AA83E5835C}"/>
              </a:ext>
            </a:extLst>
          </p:cNvPr>
          <p:cNvSpPr txBox="1"/>
          <p:nvPr/>
        </p:nvSpPr>
        <p:spPr>
          <a:xfrm>
            <a:off x="6282811" y="3598606"/>
            <a:ext cx="52651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Interactive visuals make business data easy to understand.</a:t>
            </a:r>
            <a:endParaRPr lang="en-IN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B8C60F-37FB-4FA5-100A-8A7AFF179A1E}"/>
              </a:ext>
            </a:extLst>
          </p:cNvPr>
          <p:cNvSpPr txBox="1"/>
          <p:nvPr/>
        </p:nvSpPr>
        <p:spPr>
          <a:xfrm>
            <a:off x="6282811" y="4837471"/>
            <a:ext cx="52651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Data-driven insights can support better decisions and business growth. </a:t>
            </a:r>
          </a:p>
          <a:p>
            <a:endParaRPr lang="en-IN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BBDB85-D09D-6FA6-688E-BB1B4784006E}"/>
              </a:ext>
            </a:extLst>
          </p:cNvPr>
          <p:cNvSpPr txBox="1"/>
          <p:nvPr/>
        </p:nvSpPr>
        <p:spPr>
          <a:xfrm>
            <a:off x="5279923" y="117989"/>
            <a:ext cx="31400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>
                <a:solidFill>
                  <a:schemeClr val="tx2"/>
                </a:solidFill>
              </a:rPr>
              <a:t>CONCLUSION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C16C94-E084-E686-0FF1-25747716C1F2}"/>
              </a:ext>
            </a:extLst>
          </p:cNvPr>
          <p:cNvCxnSpPr/>
          <p:nvPr/>
        </p:nvCxnSpPr>
        <p:spPr>
          <a:xfrm>
            <a:off x="5442155" y="791221"/>
            <a:ext cx="218276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59195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1974B3-81D1-7E5F-0C65-F32B31BB89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38705E4-4C25-F7B3-07B9-1DC4E133D31B}"/>
              </a:ext>
            </a:extLst>
          </p:cNvPr>
          <p:cNvSpPr txBox="1"/>
          <p:nvPr/>
        </p:nvSpPr>
        <p:spPr>
          <a:xfrm>
            <a:off x="2771372" y="2638405"/>
            <a:ext cx="664925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8000" b="1" dirty="0">
                <a:solidFill>
                  <a:schemeClr val="tx2"/>
                </a:solidFill>
              </a:rPr>
              <a:t>THANK    YOU!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E51FD6-C918-8717-5261-D99F6233260F}"/>
              </a:ext>
            </a:extLst>
          </p:cNvPr>
          <p:cNvSpPr txBox="1"/>
          <p:nvPr/>
        </p:nvSpPr>
        <p:spPr>
          <a:xfrm>
            <a:off x="3073506" y="4463289"/>
            <a:ext cx="63471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tx2"/>
                </a:solidFill>
              </a:rPr>
              <a:t>Thank you for your time and attention.</a:t>
            </a:r>
            <a:endParaRPr lang="en-IN" sz="28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65234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</TotalTime>
  <Words>442</Words>
  <Application>Microsoft Office PowerPoint</Application>
  <PresentationFormat>Widescreen</PresentationFormat>
  <Paragraphs>70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mallu jamadar</dc:creator>
  <cp:lastModifiedBy>mallu jamadar</cp:lastModifiedBy>
  <cp:revision>12</cp:revision>
  <dcterms:created xsi:type="dcterms:W3CDTF">2026-08-22T06:14:08Z</dcterms:created>
  <dcterms:modified xsi:type="dcterms:W3CDTF">2026-08-26T06:35:27Z</dcterms:modified>
</cp:coreProperties>
</file>